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Revenue</c:v>
                </c:pt>
              </c:strCache>
            </c:strRef>
          </c:tx>
          <c:cat>
            <c:strRef>
              <c:f>Sheet1!$A$2:$A$5</c:f>
              <c:strCache>
                <c:ptCount val="4"/>
                <c:pt idx="0">
                  <c:v>Europe</c:v>
                </c:pt>
                <c:pt idx="1">
                  <c:v>Americas</c:v>
                </c:pt>
                <c:pt idx="2">
                  <c:v>Asia-Pacific</c:v>
                </c:pt>
                <c:pt idx="3">
                  <c:v>Rest of world</c:v>
                </c:pt>
              </c:strCache>
            </c:strRef>
          </c:cat>
          <c:val>
            <c:numRef>
              <c:f>Sheet1!$B$2:$B$5</c:f>
              <c:numCache>
                <c:formatCode>General</c:formatCode>
                <c:ptCount val="4"/>
                <c:pt idx="0">
                  <c:v>12480.0</c:v>
                </c:pt>
                <c:pt idx="1">
                  <c:v>8930.0</c:v>
                </c:pt>
                <c:pt idx="2">
                  <c:v>5210.0</c:v>
                </c:pt>
                <c:pt idx="3">
                  <c:v>2140.0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Annual Activity and Digital Performance Report</a:t>
            </a:r>
          </a:p>
        </p:txBody>
      </p:sp>
      <p:sp>
        <p:nvSpPr>
          <p:cNvPr id="3" name="Subtitle 2"/>
          <p:cNvSpPr>
            <a:spLocks noGrp="1"/>
          </p:cNvSpPr>
          <p:nvPr>
            <p:ph type="subTitle" idx="1"/>
          </p:nvPr>
        </p:nvSpPr>
        <p:spPr/>
        <p:txBody>
          <a:bodyPr/>
          <a:lstStyle/>
          <a:p>
            <a:r>
              <a:t>Financial year 2026 — consolidated version for the management board</a:t>
            </a:r>
          </a:p>
          <a:p>
            <a:r>
              <a:t>a sustained growth trajectory despite pressure on margins.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Over the year, the company confirmed a sustained growth trajectory despite an uncertain macroeconomic environment marked by volatile input costs and increased pressure on margins, which was partly absorbed by productivity gains across the main operating units.</a:t>
            </a:r>
          </a:p>
          <a:p>
            <a:pPr lvl="1"/>
            <a:r>
              <a:t>consolidate commercial positions in the core markets</a:t>
            </a:r>
          </a:p>
          <a:p>
            <a:pPr lvl="2"/>
            <a:r>
              <a:t>gradually restore the gross margin rate</a:t>
            </a:r>
          </a:p>
          <a:p>
            <a:pPr lvl="3"/>
            <a:r>
              <a:t>reduce dependence on critical suppliers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Market context and competitive environment</a:t>
            </a:r>
          </a:p>
        </p:txBody>
      </p:sp>
      <p:sp>
        <p:nvSpPr>
          <p:cNvPr id="3" name="Content Placeholder 2"/>
          <p:cNvSpPr>
            <a:spLocks noGrp="1"/>
          </p:cNvSpPr>
          <p:nvPr>
            <p:ph idx="1"/>
          </p:nvPr>
        </p:nvSpPr>
        <p:spPr/>
        <p:txBody>
          <a:bodyPr/>
          <a:lstStyle/>
          <a:p>
            <a:r>
              <a:t>Commercial momentum was particularly strong in the European markets, where the roll-out of a packaged offering accelerated the sales cycle and significantly improved the conversion rate of qualified prospects into recurring customers with multi-year commitments.</a:t>
            </a:r>
          </a:p>
          <a:p>
            <a:pPr lvl="1"/>
            <a:r>
              <a:t>consolidate commercial positions in the core markets</a:t>
            </a:r>
          </a:p>
          <a:p>
            <a:pPr lvl="2"/>
            <a:r>
              <a:t>gradually restore the gross margin rate</a:t>
            </a:r>
          </a:p>
          <a:p>
            <a:pPr lvl="3"/>
            <a:r>
              <a:t>reduce dependence on critical suppliers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Commercial performance by region</a:t>
            </a:r>
          </a:p>
        </p:txBody>
      </p:sp>
      <p:sp>
        <p:nvSpPr>
          <p:cNvPr id="3" name="Content Placeholder 2"/>
          <p:cNvSpPr>
            <a:spLocks noGrp="1"/>
          </p:cNvSpPr>
          <p:nvPr>
            <p:ph idx="1"/>
          </p:nvPr>
        </p:nvSpPr>
        <p:spPr/>
        <p:txBody>
          <a:bodyPr/>
          <a:lstStyle/>
          <a:p>
            <a:r>
              <a:t>From a financial standpoint, gross margin grows in absolute value while the margin rate contracts slightly under the effect of a deliberately aggressive pricing policy on the acquisition segments deemed strategic for the conquest of additional market share.</a:t>
            </a:r>
          </a:p>
          <a:p>
            <a:pPr lvl="1"/>
            <a:r>
              <a:t>consolidate commercial positions in the core markets</a:t>
            </a:r>
          </a:p>
          <a:p>
            <a:pPr lvl="2"/>
            <a:r>
              <a:t>gradually restore the gross margin rate</a:t>
            </a:r>
          </a:p>
          <a:p>
            <a:pPr lvl="3"/>
            <a:r>
              <a:t>reduce dependence on critical suppliers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Detailed financial analysis</a:t>
            </a:r>
          </a:p>
        </p:txBody>
      </p:sp>
      <p:sp>
        <p:nvSpPr>
          <p:cNvPr id="3" name="Content Placeholder 2"/>
          <p:cNvSpPr>
            <a:spLocks noGrp="1"/>
          </p:cNvSpPr>
          <p:nvPr>
            <p:ph idx="1"/>
          </p:nvPr>
        </p:nvSpPr>
        <p:spPr/>
        <p:txBody>
          <a:bodyPr/>
          <a:lstStyle/>
          <a:p>
            <a:r>
              <a:t>Digital transformation translated into the modernisation of the technical foundation, the rationalisation of the application portfolio and the industrialisation of the data processing chains, now governed by quality and freshness indicators measured continuously.</a:t>
            </a:r>
          </a:p>
          <a:p>
            <a:pPr lvl="1"/>
            <a:r>
              <a:t>consolidate commercial positions in the core markets</a:t>
            </a:r>
          </a:p>
          <a:p>
            <a:pPr lvl="2"/>
            <a:r>
              <a:t>gradually restore the gross margin rate</a:t>
            </a:r>
          </a:p>
          <a:p>
            <a:pPr lvl="3"/>
            <a:r>
              <a:t>reduce dependence on critical suppliers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Digital transformation and information system</a:t>
            </a:r>
          </a:p>
        </p:txBody>
      </p:sp>
      <p:sp>
        <p:nvSpPr>
          <p:cNvPr id="3" name="Content Placeholder 2"/>
          <p:cNvSpPr>
            <a:spLocks noGrp="1"/>
          </p:cNvSpPr>
          <p:nvPr>
            <p:ph idx="1"/>
          </p:nvPr>
        </p:nvSpPr>
        <p:spPr/>
        <p:txBody>
          <a:bodyPr/>
          <a:lstStyle/>
          <a:p>
            <a:r>
              <a:t>The operational risk map was updated; the main areas of exposure concern the dependence on a limited number of critical suppliers, cybersecurity and regulatory compliance, for which remediation plans have been initiated and are tracked at the operational committee.</a:t>
            </a:r>
          </a:p>
          <a:p>
            <a:pPr lvl="1"/>
            <a:r>
              <a:t>consolidate commercial positions in the core markets</a:t>
            </a:r>
          </a:p>
          <a:p>
            <a:pPr lvl="2"/>
            <a:r>
              <a:t>gradually restore the gross margin rate</a:t>
            </a:r>
          </a:p>
          <a:p>
            <a:pPr lvl="3"/>
            <a:r>
              <a:t>reduce dependence on critical suppliers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Operational risk management</a:t>
            </a:r>
          </a:p>
        </p:txBody>
      </p:sp>
      <p:sp>
        <p:nvSpPr>
          <p:cNvPr id="3" name="Content Placeholder 2"/>
          <p:cNvSpPr>
            <a:spLocks noGrp="1"/>
          </p:cNvSpPr>
          <p:nvPr>
            <p:ph idx="1"/>
          </p:nvPr>
        </p:nvSpPr>
        <p:spPr/>
        <p:txBody>
          <a:bodyPr/>
          <a:lstStyle/>
          <a:p>
            <a:r>
              <a:t>The organisation continued to build capability with a sustained training effort, a strengthening of cross-functional functions and particular attention paid to the retention of scarce profiles whose contribution is decisive for the success of the projects.</a:t>
            </a:r>
          </a:p>
          <a:p>
            <a:pPr lvl="1"/>
            <a:r>
              <a:t>consolidate commercial positions in the core markets</a:t>
            </a:r>
          </a:p>
          <a:p>
            <a:pPr lvl="2"/>
            <a:r>
              <a:t>gradually restore the gross margin rate</a:t>
            </a:r>
          </a:p>
          <a:p>
            <a:pPr lvl="3"/>
            <a:r>
              <a:t>reduce dependence on critical suppliers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sz="2800" b="1"/>
            </a:pPr>
            <a:r>
              <a:t>Executive summary</a:t>
            </a:r>
          </a:p>
        </p:txBody>
      </p:sp>
      <p:pic>
        <p:nvPicPr>
          <p:cNvPr id="3" name="Picture 2" descr="image.png"/>
          <p:cNvPicPr>
            <a:picLocks noChangeAspect="1"/>
          </p:cNvPicPr>
          <p:nvPr/>
        </p:nvPicPr>
        <p:blipFill>
          <a:blip r:embed="rId2"/>
          <a:stretch>
            <a:fillRect/>
          </a:stretch>
        </p:blipFill>
        <p:spPr>
          <a:xfrm>
            <a:off x="1371600" y="1371600"/>
            <a:ext cx="5486400" cy="3429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sz="2800" b="1"/>
            </a:pPr>
            <a:r>
              <a:t>Table 1 — Key performance indicators by region (in thousands of euros)</a:t>
            </a:r>
          </a:p>
        </p:txBody>
      </p:sp>
      <p:graphicFrame>
        <p:nvGraphicFramePr>
          <p:cNvPr id="3" name="Table 2"/>
          <p:cNvGraphicFramePr>
            <a:graphicFrameLocks noGrp="1"/>
          </p:cNvGraphicFramePr>
          <p:nvPr/>
        </p:nvGraphicFramePr>
        <p:xfrm>
          <a:off x="548640" y="1463040"/>
          <a:ext cx="8046720" cy="2743200"/>
        </p:xfrm>
        <a:graphic>
          <a:graphicData uri="http://schemas.openxmlformats.org/drawingml/2006/table">
            <a:tbl>
              <a:tblPr firstRow="1" bandRow="1">
                <a:tableStyleId>{5C22544A-7EE6-4342-B048-85BDC9FD1C3A}</a:tableStyleId>
              </a:tblPr>
              <a:tblGrid>
                <a:gridCol w="1609344"/>
                <a:gridCol w="1609344"/>
                <a:gridCol w="1609344"/>
                <a:gridCol w="1609344"/>
                <a:gridCol w="1609344"/>
              </a:tblGrid>
              <a:tr h="685800">
                <a:tc>
                  <a:txBody>
                    <a:bodyPr/>
                    <a:lstStyle/>
                    <a:p>
                      <a:r>
                        <a:t>Region</a:t>
                      </a:r>
                    </a:p>
                  </a:txBody>
                  <a:tcPr/>
                </a:tc>
                <a:tc>
                  <a:txBody>
                    <a:bodyPr/>
                    <a:lstStyle/>
                    <a:p>
                      <a:r>
                        <a:t>Revenue</a:t>
                      </a:r>
                    </a:p>
                  </a:txBody>
                  <a:tcPr/>
                </a:tc>
                <a:tc>
                  <a:txBody>
                    <a:bodyPr/>
                    <a:lstStyle/>
                    <a:p>
                      <a:r>
                        <a:t>Gross margin</a:t>
                      </a:r>
                    </a:p>
                  </a:txBody>
                  <a:tcPr/>
                </a:tc>
                <a:tc>
                  <a:txBody>
                    <a:bodyPr/>
                    <a:lstStyle/>
                    <a:p>
                      <a:r>
                        <a:t>Growth</a:t>
                      </a:r>
                    </a:p>
                  </a:txBody>
                  <a:tcPr/>
                </a:tc>
                <a:tc>
                  <a:txBody>
                    <a:bodyPr/>
                    <a:lstStyle/>
                    <a:p>
                      <a:r>
                        <a:t>Headcount</a:t>
                      </a:r>
                    </a:p>
                  </a:txBody>
                  <a:tcPr/>
                </a:tc>
              </a:tr>
              <a:tr h="685800">
                <a:tc>
                  <a:txBody>
                    <a:bodyPr/>
                    <a:lstStyle/>
                    <a:p>
                      <a:r>
                        <a:t>Europe</a:t>
                      </a:r>
                    </a:p>
                  </a:txBody>
                  <a:tcPr/>
                </a:tc>
                <a:tc>
                  <a:txBody>
                    <a:bodyPr/>
                    <a:lstStyle/>
                    <a:p>
                      <a:r>
                        <a:t>12,480</a:t>
                      </a:r>
                    </a:p>
                  </a:txBody>
                  <a:tcPr/>
                </a:tc>
                <a:tc>
                  <a:txBody>
                    <a:bodyPr/>
                    <a:lstStyle/>
                    <a:p>
                      <a:r>
                        <a:t>4,742</a:t>
                      </a:r>
                    </a:p>
                  </a:txBody>
                  <a:tcPr/>
                </a:tc>
                <a:tc>
                  <a:txBody>
                    <a:bodyPr/>
                    <a:lstStyle/>
                    <a:p>
                      <a:r>
                        <a:t>+12.4 %</a:t>
                      </a:r>
                    </a:p>
                  </a:txBody>
                  <a:tcPr/>
                </a:tc>
                <a:tc>
                  <a:txBody>
                    <a:bodyPr/>
                    <a:lstStyle/>
                    <a:p>
                      <a:r>
                        <a:t>184</a:t>
                      </a:r>
                    </a:p>
                  </a:txBody>
                  <a:tcPr/>
                </a:tc>
              </a:tr>
              <a:tr h="685800">
                <a:tc>
                  <a:txBody>
                    <a:bodyPr/>
                    <a:lstStyle/>
                    <a:p>
                      <a:r>
                        <a:t>Americas</a:t>
                      </a:r>
                    </a:p>
                  </a:txBody>
                  <a:tcPr/>
                </a:tc>
                <a:tc>
                  <a:txBody>
                    <a:bodyPr/>
                    <a:lstStyle/>
                    <a:p>
                      <a:r>
                        <a:t>8,930</a:t>
                      </a:r>
                    </a:p>
                  </a:txBody>
                  <a:tcPr/>
                </a:tc>
                <a:tc>
                  <a:txBody>
                    <a:bodyPr/>
                    <a:lstStyle/>
                    <a:p>
                      <a:r>
                        <a:t>3,215</a:t>
                      </a:r>
                    </a:p>
                  </a:txBody>
                  <a:tcPr/>
                </a:tc>
                <a:tc>
                  <a:txBody>
                    <a:bodyPr/>
                    <a:lstStyle/>
                    <a:p>
                      <a:r>
                        <a:t>+8.1 %</a:t>
                      </a:r>
                    </a:p>
                  </a:txBody>
                  <a:tcPr/>
                </a:tc>
                <a:tc>
                  <a:txBody>
                    <a:bodyPr/>
                    <a:lstStyle/>
                    <a:p>
                      <a:r>
                        <a:t>97</a:t>
                      </a:r>
                    </a:p>
                  </a:txBody>
                  <a:tcPr/>
                </a:tc>
              </a:tr>
              <a:tr h="685800">
                <a:tc>
                  <a:txBody>
                    <a:bodyPr/>
                    <a:lstStyle/>
                    <a:p>
                      <a:r>
                        <a:t>Asia-Pacific</a:t>
                      </a:r>
                    </a:p>
                  </a:txBody>
                  <a:tcPr/>
                </a:tc>
                <a:tc>
                  <a:txBody>
                    <a:bodyPr/>
                    <a:lstStyle/>
                    <a:p>
                      <a:r>
                        <a:t>5,210</a:t>
                      </a:r>
                    </a:p>
                  </a:txBody>
                  <a:tcPr/>
                </a:tc>
                <a:tc>
                  <a:txBody>
                    <a:bodyPr/>
                    <a:lstStyle/>
                    <a:p>
                      <a:r>
                        <a:t>1,980</a:t>
                      </a:r>
                    </a:p>
                  </a:txBody>
                  <a:tcPr/>
                </a:tc>
                <a:tc>
                  <a:txBody>
                    <a:bodyPr/>
                    <a:lstStyle/>
                    <a:p>
                      <a:r>
                        <a:t>+15.7 %</a:t>
                      </a:r>
                    </a:p>
                  </a:txBody>
                  <a:tcPr/>
                </a:tc>
                <a:tc>
                  <a:txBody>
                    <a:bodyPr/>
                    <a:lstStyle/>
                    <a:p>
                      <a:r>
                        <a:t>63</a:t>
                      </a:r>
                    </a:p>
                  </a:txBody>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sz="2800" b="1"/>
            </a:pPr>
            <a:r>
              <a:t>Market context and competitive environment</a:t>
            </a:r>
          </a:p>
        </p:txBody>
      </p:sp>
      <p:graphicFrame>
        <p:nvGraphicFramePr>
          <p:cNvPr id="3" name="Chart 2"/>
          <p:cNvGraphicFramePr>
            <a:graphicFrameLocks noGrp="1"/>
          </p:cNvGraphicFramePr>
          <p:nvPr/>
        </p:nvGraphicFramePr>
        <p:xfrm>
          <a:off x="1371600" y="1463040"/>
          <a:ext cx="6400800" cy="4114800"/>
        </p:xfrm>
        <a:graphic>
          <a:graphicData uri="http://schemas.openxmlformats.org/drawingml/2006/chart">
            <c:chart xmlns:c="http://schemas.openxmlformats.org/drawingml/2006/chart" r:id="rId2"/>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