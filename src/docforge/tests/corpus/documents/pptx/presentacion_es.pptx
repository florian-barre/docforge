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Ingresos</c:v>
                </c:pt>
              </c:strCache>
            </c:strRef>
          </c:tx>
          <c:cat>
            <c:strRef>
              <c:f>Sheet1!$A$2:$A$5</c:f>
              <c:strCache>
                <c:ptCount val="4"/>
                <c:pt idx="0">
                  <c:v>Europa</c:v>
                </c:pt>
                <c:pt idx="1">
                  <c:v>Américas</c:v>
                </c:pt>
                <c:pt idx="2">
                  <c:v>Asia-Pacífico</c:v>
                </c:pt>
                <c:pt idx="3">
                  <c:v>Resto del mundo</c:v>
                </c:pt>
              </c:strCache>
            </c:strRef>
          </c:cat>
          <c:val>
            <c:numRef>
              <c:f>Sheet1!$B$2:$B$5</c:f>
              <c:numCache>
                <c:formatCode>General</c:formatCode>
                <c:ptCount val="4"/>
                <c:pt idx="0">
                  <c:v>12480.0</c:v>
                </c:pt>
                <c:pt idx="1">
                  <c:v>8930.0</c:v>
                </c:pt>
                <c:pt idx="2">
                  <c:v>5210.0</c:v>
                </c:pt>
                <c:pt idx="3">
                  <c:v>2140.0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Informe anual de actividad y desempeño digital</a:t>
            </a:r>
          </a:p>
        </p:txBody>
      </p:sp>
      <p:sp>
        <p:nvSpPr>
          <p:cNvPr id="3" name="Subtitle 2"/>
          <p:cNvSpPr>
            <a:spLocks noGrp="1"/>
          </p:cNvSpPr>
          <p:nvPr>
            <p:ph type="subTitle" idx="1"/>
          </p:nvPr>
        </p:nvSpPr>
        <p:spPr/>
        <p:txBody>
          <a:bodyPr/>
          <a:lstStyle/>
          <a:p>
            <a:r>
              <a:t>Ejercicio 2026 — versión consolidada para el comité de dirección</a:t>
            </a:r>
          </a:p>
          <a:p>
            <a:r>
              <a:t>una trayectoria de crecimiento sostenido pese a la presión sobre los márgenes.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Resumen ejecutivo</a:t>
            </a:r>
          </a:p>
        </p:txBody>
      </p:sp>
      <p:sp>
        <p:nvSpPr>
          <p:cNvPr id="3" name="Content Placeholder 2"/>
          <p:cNvSpPr>
            <a:spLocks noGrp="1"/>
          </p:cNvSpPr>
          <p:nvPr>
            <p:ph idx="1"/>
          </p:nvPr>
        </p:nvSpPr>
        <p:spPr/>
        <p:txBody>
          <a:bodyPr/>
          <a:lstStyle/>
          <a:p>
            <a:r>
              <a:t>Durante el ejercicio, la empresa confirmó una trayectoria de crecimiento sostenido pese a un entorno macroeconómico incierto, marcado por la volatilidad de los costes de los insumos y una mayor presión sobre los márgenes, absorbida en parte por las ganancias de productividad.</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Contexto de mercado y entorno competitivo</a:t>
            </a:r>
          </a:p>
        </p:txBody>
      </p:sp>
      <p:sp>
        <p:nvSpPr>
          <p:cNvPr id="3" name="Content Placeholder 2"/>
          <p:cNvSpPr>
            <a:spLocks noGrp="1"/>
          </p:cNvSpPr>
          <p:nvPr>
            <p:ph idx="1"/>
          </p:nvPr>
        </p:nvSpPr>
        <p:spPr/>
        <p:txBody>
          <a:bodyPr/>
          <a:lstStyle/>
          <a:p>
            <a:r>
              <a:t>La dinámica comercial fue especialmente vigorosa en los mercados europeos, donde el despliegue de una oferta empaquetada permitió acelerar el ciclo de venta y mejorar de forma significativa la tasa de conversión de los clientes potenciales cualificados en clientes recurrentes.</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Desempeño comercial por región</a:t>
            </a:r>
          </a:p>
        </p:txBody>
      </p:sp>
      <p:sp>
        <p:nvSpPr>
          <p:cNvPr id="3" name="Content Placeholder 2"/>
          <p:cNvSpPr>
            <a:spLocks noGrp="1"/>
          </p:cNvSpPr>
          <p:nvPr>
            <p:ph idx="1"/>
          </p:nvPr>
        </p:nvSpPr>
        <p:spPr/>
        <p:txBody>
          <a:bodyPr/>
          <a:lstStyle/>
          <a:p>
            <a:r>
              <a:t>En el plano financiero, el margen bruto progresa en valor absoluto mientras que la tasa de margen se contrae ligeramente por efecto de una política de precios deliberadamente agresiva en los segmentos de captación considerados estratégicos para conquistar cuota de mercado.</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Análisis financiero detallado</a:t>
            </a:r>
          </a:p>
        </p:txBody>
      </p:sp>
      <p:sp>
        <p:nvSpPr>
          <p:cNvPr id="3" name="Content Placeholder 2"/>
          <p:cNvSpPr>
            <a:spLocks noGrp="1"/>
          </p:cNvSpPr>
          <p:nvPr>
            <p:ph idx="1"/>
          </p:nvPr>
        </p:nvSpPr>
        <p:spPr/>
        <p:txBody>
          <a:bodyPr/>
          <a:lstStyle/>
          <a:p>
            <a:r>
              <a:t>La transformación digital se tradujo en la modernización de la base técnica, la racionalización del catálogo de aplicaciones y la industrialización de las cadenas de tratamiento de datos, gobernadas ahora por indicadores de calidad y frescura medidos de forma continua.</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Transformación digital y sistema de información</a:t>
            </a:r>
          </a:p>
        </p:txBody>
      </p:sp>
      <p:sp>
        <p:nvSpPr>
          <p:cNvPr id="3" name="Content Placeholder 2"/>
          <p:cNvSpPr>
            <a:spLocks noGrp="1"/>
          </p:cNvSpPr>
          <p:nvPr>
            <p:ph idx="1"/>
          </p:nvPr>
        </p:nvSpPr>
        <p:spPr/>
        <p:txBody>
          <a:bodyPr/>
          <a:lstStyle/>
          <a:p>
            <a:r>
              <a:t>El mapa de riesgos operativos fue actualizado; los principales focos de exposición se refieren a la dependencia de un número reducido de proveedores críticos, la ciberseguridad y el cumplimiento normativo, para los que se han puesto en marcha planes de remediación.</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Gestión de riesgos operativos</a:t>
            </a:r>
          </a:p>
        </p:txBody>
      </p:sp>
      <p:sp>
        <p:nvSpPr>
          <p:cNvPr id="3" name="Content Placeholder 2"/>
          <p:cNvSpPr>
            <a:spLocks noGrp="1"/>
          </p:cNvSpPr>
          <p:nvPr>
            <p:ph idx="1"/>
          </p:nvPr>
        </p:nvSpPr>
        <p:spPr/>
        <p:txBody>
          <a:bodyPr/>
          <a:lstStyle/>
          <a:p>
            <a:r>
              <a:t>La organización prosiguió su desarrollo de capacidades con un esfuerzo sostenido de formación, un refuerzo de las funciones transversales y una atención particular a la retención de los perfiles escasos cuya contribución es determinante para el éxito de los proyectos.</a:t>
            </a:r>
          </a:p>
          <a:p>
            <a:pPr lvl="1"/>
            <a:r>
              <a:t>consolidar las posiciones comerciales en los mercados principales</a:t>
            </a:r>
          </a:p>
          <a:p>
            <a:pPr lvl="2"/>
            <a:r>
              <a:t>restablecer progresivamente la tasa de margen bruto</a:t>
            </a:r>
          </a:p>
          <a:p>
            <a:pPr lvl="3"/>
            <a:r>
              <a:t>reducir la dependencia de los proveedores críticos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Resumen ejecutivo</a:t>
            </a:r>
          </a:p>
        </p:txBody>
      </p:sp>
      <p:pic>
        <p:nvPicPr>
          <p:cNvPr id="3" name="Picture 2" descr="image.png"/>
          <p:cNvPicPr>
            <a:picLocks noChangeAspect="1"/>
          </p:cNvPicPr>
          <p:nvPr/>
        </p:nvPicPr>
        <p:blipFill>
          <a:blip r:embed="rId2"/>
          <a:stretch>
            <a:fillRect/>
          </a:stretch>
        </p:blipFill>
        <p:spPr>
          <a:xfrm>
            <a:off x="1371600" y="1371600"/>
            <a:ext cx="5486400" cy="3429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Tabla 1 — Indicadores clave de desempeño por región (en miles de euros)</a:t>
            </a:r>
          </a:p>
        </p:txBody>
      </p:sp>
      <p:graphicFrame>
        <p:nvGraphicFramePr>
          <p:cNvPr id="3" name="Table 2"/>
          <p:cNvGraphicFramePr>
            <a:graphicFrameLocks noGrp="1"/>
          </p:cNvGraphicFramePr>
          <p:nvPr/>
        </p:nvGraphicFramePr>
        <p:xfrm>
          <a:off x="548640" y="1463040"/>
          <a:ext cx="8046720" cy="2743200"/>
        </p:xfrm>
        <a:graphic>
          <a:graphicData uri="http://schemas.openxmlformats.org/drawingml/2006/table">
            <a:tbl>
              <a:tblPr firstRow="1" bandRow="1">
                <a:tableStyleId>{5C22544A-7EE6-4342-B048-85BDC9FD1C3A}</a:tableStyleId>
              </a:tblPr>
              <a:tblGrid>
                <a:gridCol w="1609344"/>
                <a:gridCol w="1609344"/>
                <a:gridCol w="1609344"/>
                <a:gridCol w="1609344"/>
                <a:gridCol w="1609344"/>
              </a:tblGrid>
              <a:tr h="685800">
                <a:tc>
                  <a:txBody>
                    <a:bodyPr/>
                    <a:lstStyle/>
                    <a:p>
                      <a:r>
                        <a:t>Región</a:t>
                      </a:r>
                    </a:p>
                  </a:txBody>
                  <a:tcPr/>
                </a:tc>
                <a:tc>
                  <a:txBody>
                    <a:bodyPr/>
                    <a:lstStyle/>
                    <a:p>
                      <a:r>
                        <a:t>Ingresos</a:t>
                      </a:r>
                    </a:p>
                  </a:txBody>
                  <a:tcPr/>
                </a:tc>
                <a:tc>
                  <a:txBody>
                    <a:bodyPr/>
                    <a:lstStyle/>
                    <a:p>
                      <a:r>
                        <a:t>Margen bruto</a:t>
                      </a:r>
                    </a:p>
                  </a:txBody>
                  <a:tcPr/>
                </a:tc>
                <a:tc>
                  <a:txBody>
                    <a:bodyPr/>
                    <a:lstStyle/>
                    <a:p>
                      <a:r>
                        <a:t>Crecimiento</a:t>
                      </a:r>
                    </a:p>
                  </a:txBody>
                  <a:tcPr/>
                </a:tc>
                <a:tc>
                  <a:txBody>
                    <a:bodyPr/>
                    <a:lstStyle/>
                    <a:p>
                      <a:r>
                        <a:t>Plantilla</a:t>
                      </a:r>
                    </a:p>
                  </a:txBody>
                  <a:tcPr/>
                </a:tc>
              </a:tr>
              <a:tr h="685800">
                <a:tc>
                  <a:txBody>
                    <a:bodyPr/>
                    <a:lstStyle/>
                    <a:p>
                      <a:r>
                        <a:t>Europa</a:t>
                      </a:r>
                    </a:p>
                  </a:txBody>
                  <a:tcPr/>
                </a:tc>
                <a:tc>
                  <a:txBody>
                    <a:bodyPr/>
                    <a:lstStyle/>
                    <a:p>
                      <a:r>
                        <a:t>12 480</a:t>
                      </a:r>
                    </a:p>
                  </a:txBody>
                  <a:tcPr/>
                </a:tc>
                <a:tc>
                  <a:txBody>
                    <a:bodyPr/>
                    <a:lstStyle/>
                    <a:p>
                      <a:r>
                        <a:t>4 742</a:t>
                      </a:r>
                    </a:p>
                  </a:txBody>
                  <a:tcPr/>
                </a:tc>
                <a:tc>
                  <a:txBody>
                    <a:bodyPr/>
                    <a:lstStyle/>
                    <a:p>
                      <a:r>
                        <a:t>+12,4 %</a:t>
                      </a:r>
                    </a:p>
                  </a:txBody>
                  <a:tcPr/>
                </a:tc>
                <a:tc>
                  <a:txBody>
                    <a:bodyPr/>
                    <a:lstStyle/>
                    <a:p>
                      <a:r>
                        <a:t>184</a:t>
                      </a:r>
                    </a:p>
                  </a:txBody>
                  <a:tcPr/>
                </a:tc>
              </a:tr>
              <a:tr h="685800">
                <a:tc>
                  <a:txBody>
                    <a:bodyPr/>
                    <a:lstStyle/>
                    <a:p>
                      <a:r>
                        <a:t>Américas</a:t>
                      </a:r>
                    </a:p>
                  </a:txBody>
                  <a:tcPr/>
                </a:tc>
                <a:tc>
                  <a:txBody>
                    <a:bodyPr/>
                    <a:lstStyle/>
                    <a:p>
                      <a:r>
                        <a:t>8 930</a:t>
                      </a:r>
                    </a:p>
                  </a:txBody>
                  <a:tcPr/>
                </a:tc>
                <a:tc>
                  <a:txBody>
                    <a:bodyPr/>
                    <a:lstStyle/>
                    <a:p>
                      <a:r>
                        <a:t>3 215</a:t>
                      </a:r>
                    </a:p>
                  </a:txBody>
                  <a:tcPr/>
                </a:tc>
                <a:tc>
                  <a:txBody>
                    <a:bodyPr/>
                    <a:lstStyle/>
                    <a:p>
                      <a:r>
                        <a:t>+8,1 %</a:t>
                      </a:r>
                    </a:p>
                  </a:txBody>
                  <a:tcPr/>
                </a:tc>
                <a:tc>
                  <a:txBody>
                    <a:bodyPr/>
                    <a:lstStyle/>
                    <a:p>
                      <a:r>
                        <a:t>97</a:t>
                      </a:r>
                    </a:p>
                  </a:txBody>
                  <a:tcPr/>
                </a:tc>
              </a:tr>
              <a:tr h="685800">
                <a:tc>
                  <a:txBody>
                    <a:bodyPr/>
                    <a:lstStyle/>
                    <a:p>
                      <a:r>
                        <a:t>Asia-Pacífico</a:t>
                      </a:r>
                    </a:p>
                  </a:txBody>
                  <a:tcPr/>
                </a:tc>
                <a:tc>
                  <a:txBody>
                    <a:bodyPr/>
                    <a:lstStyle/>
                    <a:p>
                      <a:r>
                        <a:t>5 210</a:t>
                      </a:r>
                    </a:p>
                  </a:txBody>
                  <a:tcPr/>
                </a:tc>
                <a:tc>
                  <a:txBody>
                    <a:bodyPr/>
                    <a:lstStyle/>
                    <a:p>
                      <a:r>
                        <a:t>1 980</a:t>
                      </a:r>
                    </a:p>
                  </a:txBody>
                  <a:tcPr/>
                </a:tc>
                <a:tc>
                  <a:txBody>
                    <a:bodyPr/>
                    <a:lstStyle/>
                    <a:p>
                      <a:r>
                        <a:t>+15,7 %</a:t>
                      </a:r>
                    </a:p>
                  </a:txBody>
                  <a:tcPr/>
                </a:tc>
                <a:tc>
                  <a:txBody>
                    <a:bodyPr/>
                    <a:lstStyle/>
                    <a:p>
                      <a:r>
                        <a:t>63</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none">
            <a:spAutoFit/>
          </a:bodyPr>
          <a:lstStyle/>
          <a:p>
            <a:pPr>
              <a:defRPr sz="2800" b="1"/>
            </a:pPr>
            <a:r>
              <a:t>Contexto de mercado y entorno competitivo</a:t>
            </a:r>
          </a:p>
        </p:txBody>
      </p:sp>
      <p:graphicFrame>
        <p:nvGraphicFramePr>
          <p:cNvPr id="3" name="Chart 2"/>
          <p:cNvGraphicFramePr>
            <a:graphicFrameLocks noGrp="1"/>
          </p:cNvGraphicFramePr>
          <p:nvPr/>
        </p:nvGraphicFramePr>
        <p:xfrm>
          <a:off x="1371600" y="1463040"/>
          <a:ext cx="6400800" cy="41148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