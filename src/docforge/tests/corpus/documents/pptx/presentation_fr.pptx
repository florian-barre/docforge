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Chiffre d'affaires</c:v>
                </c:pt>
              </c:strCache>
            </c:strRef>
          </c:tx>
          <c:cat>
            <c:strRef>
              <c:f>Sheet1!$A$2:$A$5</c:f>
              <c:strCache>
                <c:ptCount val="4"/>
                <c:pt idx="0">
                  <c:v>Europe</c:v>
                </c:pt>
                <c:pt idx="1">
                  <c:v>Amériques</c:v>
                </c:pt>
                <c:pt idx="2">
                  <c:v>Asie-Pacifique</c:v>
                </c:pt>
                <c:pt idx="3">
                  <c:v>Reste du monde</c:v>
                </c:pt>
              </c:strCache>
            </c:strRef>
          </c:cat>
          <c:val>
            <c:numRef>
              <c:f>Sheet1!$B$2:$B$5</c:f>
              <c:numCache>
                <c:formatCode>General</c:formatCode>
                <c:ptCount val="4"/>
                <c:pt idx="0">
                  <c:v>12480.0</c:v>
                </c:pt>
                <c:pt idx="1">
                  <c:v>8930.0</c:v>
                </c:pt>
                <c:pt idx="2">
                  <c:v>5210.0</c:v>
                </c:pt>
                <c:pt idx="3">
                  <c:v>2140.0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Rapport annuel d'activité et de performance numérique</a:t>
            </a:r>
          </a:p>
        </p:txBody>
      </p:sp>
      <p:sp>
        <p:nvSpPr>
          <p:cNvPr id="3" name="Subtitle 2"/>
          <p:cNvSpPr>
            <a:spLocks noGrp="1"/>
          </p:cNvSpPr>
          <p:nvPr>
            <p:ph type="subTitle" idx="1"/>
          </p:nvPr>
        </p:nvSpPr>
        <p:spPr/>
        <p:txBody>
          <a:bodyPr/>
          <a:lstStyle/>
          <a:p>
            <a:r>
              <a:t>Exercice 2026 — version consolidée destinée au comité de direction</a:t>
            </a:r>
          </a:p>
          <a:p>
            <a:r>
              <a:t>trajectoire de croissance soutenue malgré la pression sur les marges.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Synthèse exécutive</a:t>
            </a:r>
          </a:p>
        </p:txBody>
      </p:sp>
      <p:sp>
        <p:nvSpPr>
          <p:cNvPr id="3" name="Content Placeholder 2"/>
          <p:cNvSpPr>
            <a:spLocks noGrp="1"/>
          </p:cNvSpPr>
          <p:nvPr>
            <p:ph idx="1"/>
          </p:nvPr>
        </p:nvSpPr>
        <p:spPr/>
        <p:txBody>
          <a:bodyPr/>
          <a:lstStyle/>
          <a:p>
            <a:r>
              <a:t>Au cours de l'exercice, l'entreprise a confirmé une trajectoire de croissance soutenue malgré un environnement macroéconomique incertain marqué par la volatilité des coûts des intrants et une pression accrue sur les marges, absorbée en partie par les gains de productivité.</a:t>
            </a:r>
          </a:p>
          <a:p>
            <a:pPr lvl="1"/>
            <a:r>
              <a:t>consolider les positions commerciales sur les marchés cœur</a:t>
            </a:r>
          </a:p>
          <a:p>
            <a:pPr lvl="2"/>
            <a:r>
              <a:t>rétablir progressivement le taux de marge brute</a:t>
            </a:r>
          </a:p>
          <a:p>
            <a:pPr lvl="3"/>
            <a:r>
              <a:t>réduire la dépendance aux fournisseurs critiques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Contexte de marché et environnement concurrentiel</a:t>
            </a:r>
          </a:p>
        </p:txBody>
      </p:sp>
      <p:sp>
        <p:nvSpPr>
          <p:cNvPr id="3" name="Content Placeholder 2"/>
          <p:cNvSpPr>
            <a:spLocks noGrp="1"/>
          </p:cNvSpPr>
          <p:nvPr>
            <p:ph idx="1"/>
          </p:nvPr>
        </p:nvSpPr>
        <p:spPr/>
        <p:txBody>
          <a:bodyPr/>
          <a:lstStyle/>
          <a:p>
            <a:r>
              <a:t>La dynamique commerciale a été particulièrement vigoureuse sur les marchés européens, où le déploiement d'une offre packagée a permis d'accélérer le cycle de vente et d'améliorer significativement le taux de transformation des prospects qualifiés en clients récurrents.</a:t>
            </a:r>
          </a:p>
          <a:p>
            <a:pPr lvl="1"/>
            <a:r>
              <a:t>consolider les positions commerciales sur les marchés cœur</a:t>
            </a:r>
          </a:p>
          <a:p>
            <a:pPr lvl="2"/>
            <a:r>
              <a:t>rétablir progressivement le taux de marge brute</a:t>
            </a:r>
          </a:p>
          <a:p>
            <a:pPr lvl="3"/>
            <a:r>
              <a:t>réduire la dépendance aux fournisseurs critiques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commerciale par région</a:t>
            </a:r>
          </a:p>
        </p:txBody>
      </p:sp>
      <p:sp>
        <p:nvSpPr>
          <p:cNvPr id="3" name="Content Placeholder 2"/>
          <p:cNvSpPr>
            <a:spLocks noGrp="1"/>
          </p:cNvSpPr>
          <p:nvPr>
            <p:ph idx="1"/>
          </p:nvPr>
        </p:nvSpPr>
        <p:spPr/>
        <p:txBody>
          <a:bodyPr/>
          <a:lstStyle/>
          <a:p>
            <a:r>
              <a:t>Sur le plan financier, la marge brute progresse en valeur absolue tandis que le taux de marge se contracte légèrement sous l'effet d'une politique tarifaire volontairement agressive sur les segments d'acquisition jugés stratégiques pour la conquête de parts de marché.</a:t>
            </a:r>
          </a:p>
          <a:p>
            <a:pPr lvl="1"/>
            <a:r>
              <a:t>consolider les positions commerciales sur les marchés cœur</a:t>
            </a:r>
          </a:p>
          <a:p>
            <a:pPr lvl="2"/>
            <a:r>
              <a:t>rétablir progressivement le taux de marge brute</a:t>
            </a:r>
          </a:p>
          <a:p>
            <a:pPr lvl="3"/>
            <a:r>
              <a:t>réduire la dépendance aux fournisseurs critiques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Analyse financière détaillée</a:t>
            </a:r>
          </a:p>
        </p:txBody>
      </p:sp>
      <p:sp>
        <p:nvSpPr>
          <p:cNvPr id="3" name="Content Placeholder 2"/>
          <p:cNvSpPr>
            <a:spLocks noGrp="1"/>
          </p:cNvSpPr>
          <p:nvPr>
            <p:ph idx="1"/>
          </p:nvPr>
        </p:nvSpPr>
        <p:spPr/>
        <p:txBody>
          <a:bodyPr/>
          <a:lstStyle/>
          <a:p>
            <a:r>
              <a:t>La transformation numérique s'est traduite par la modernisation du socle technique, la rationalisation du portefeuille applicatif et l'industrialisation des chaînes de traitement de la donnée, désormais pilotées par des indicateurs de qualité et de fraîcheur mesurés en continu.</a:t>
            </a:r>
          </a:p>
          <a:p>
            <a:pPr lvl="1"/>
            <a:r>
              <a:t>consolider les positions commerciales sur les marchés cœur</a:t>
            </a:r>
          </a:p>
          <a:p>
            <a:pPr lvl="2"/>
            <a:r>
              <a:t>rétablir progressivement le taux de marge brute</a:t>
            </a:r>
          </a:p>
          <a:p>
            <a:pPr lvl="3"/>
            <a:r>
              <a:t>réduire la dépendance aux fournisseurs critiques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Transformation numérique et système d'information</a:t>
            </a:r>
          </a:p>
        </p:txBody>
      </p:sp>
      <p:sp>
        <p:nvSpPr>
          <p:cNvPr id="3" name="Content Placeholder 2"/>
          <p:cNvSpPr>
            <a:spLocks noGrp="1"/>
          </p:cNvSpPr>
          <p:nvPr>
            <p:ph idx="1"/>
          </p:nvPr>
        </p:nvSpPr>
        <p:spPr/>
        <p:txBody>
          <a:bodyPr/>
          <a:lstStyle/>
          <a:p>
            <a:r>
              <a:t>La cartographie des risques opérationnels a été actualisée ; les principaux foyers d'exposition concernent la dépendance à un nombre restreint de fournisseurs critiques, la cybersécurité et la conformité réglementaire, pour lesquels des plans de remédiation ont été engagés.</a:t>
            </a:r>
          </a:p>
          <a:p>
            <a:pPr lvl="1"/>
            <a:r>
              <a:t>consolider les positions commerciales sur les marchés cœur</a:t>
            </a:r>
          </a:p>
          <a:p>
            <a:pPr lvl="2"/>
            <a:r>
              <a:t>rétablir progressivement le taux de marge brute</a:t>
            </a:r>
          </a:p>
          <a:p>
            <a:pPr lvl="3"/>
            <a:r>
              <a:t>réduire la dépendance aux fournisseurs critiques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Gestion des risques opérationnels</a:t>
            </a:r>
          </a:p>
        </p:txBody>
      </p:sp>
      <p:sp>
        <p:nvSpPr>
          <p:cNvPr id="3" name="Content Placeholder 2"/>
          <p:cNvSpPr>
            <a:spLocks noGrp="1"/>
          </p:cNvSpPr>
          <p:nvPr>
            <p:ph idx="1"/>
          </p:nvPr>
        </p:nvSpPr>
        <p:spPr/>
        <p:txBody>
          <a:bodyPr/>
          <a:lstStyle/>
          <a:p>
            <a:r>
              <a:t>L'organisation a poursuivi sa montée en compétences avec un effort soutenu de formation, un renforcement des fonctions transverses et une attention particulière portée à la rétention des profils rares dont la contribution est déterminante pour la réussite des projets.</a:t>
            </a:r>
          </a:p>
          <a:p>
            <a:pPr lvl="1"/>
            <a:r>
              <a:t>consolider les positions commerciales sur les marchés cœur</a:t>
            </a:r>
          </a:p>
          <a:p>
            <a:pPr lvl="2"/>
            <a:r>
              <a:t>rétablir progressivement le taux de marge brute</a:t>
            </a:r>
          </a:p>
          <a:p>
            <a:pPr lvl="3"/>
            <a:r>
              <a:t>réduire la dépendance aux fournisseurs critiques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Synthèse exécutive</a:t>
            </a:r>
          </a:p>
        </p:txBody>
      </p:sp>
      <p:pic>
        <p:nvPicPr>
          <p:cNvPr id="3" name="Picture 2" descr="image.png"/>
          <p:cNvPicPr>
            <a:picLocks noChangeAspect="1"/>
          </p:cNvPicPr>
          <p:nvPr/>
        </p:nvPicPr>
        <p:blipFill>
          <a:blip r:embed="rId2"/>
          <a:stretch>
            <a:fillRect/>
          </a:stretch>
        </p:blipFill>
        <p:spPr>
          <a:xfrm>
            <a:off x="1371600" y="1371600"/>
            <a:ext cx="5486400" cy="3429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Tableau 1 — Indicateurs clés de performance par région (en milliers d'euros)</a:t>
            </a:r>
          </a:p>
        </p:txBody>
      </p:sp>
      <p:graphicFrame>
        <p:nvGraphicFramePr>
          <p:cNvPr id="3" name="Table 2"/>
          <p:cNvGraphicFramePr>
            <a:graphicFrameLocks noGrp="1"/>
          </p:cNvGraphicFramePr>
          <p:nvPr/>
        </p:nvGraphicFramePr>
        <p:xfrm>
          <a:off x="548640" y="1463040"/>
          <a:ext cx="8046720" cy="274320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685800">
                <a:tc>
                  <a:txBody>
                    <a:bodyPr/>
                    <a:lstStyle/>
                    <a:p>
                      <a:r>
                        <a:t>Région</a:t>
                      </a:r>
                    </a:p>
                  </a:txBody>
                  <a:tcPr/>
                </a:tc>
                <a:tc>
                  <a:txBody>
                    <a:bodyPr/>
                    <a:lstStyle/>
                    <a:p>
                      <a:r>
                        <a:t>Chiffre d'affaires</a:t>
                      </a:r>
                    </a:p>
                  </a:txBody>
                  <a:tcPr/>
                </a:tc>
                <a:tc>
                  <a:txBody>
                    <a:bodyPr/>
                    <a:lstStyle/>
                    <a:p>
                      <a:r>
                        <a:t>Marge brute</a:t>
                      </a:r>
                    </a:p>
                  </a:txBody>
                  <a:tcPr/>
                </a:tc>
                <a:tc>
                  <a:txBody>
                    <a:bodyPr/>
                    <a:lstStyle/>
                    <a:p>
                      <a:r>
                        <a:t>Croissance</a:t>
                      </a:r>
                    </a:p>
                  </a:txBody>
                  <a:tcPr/>
                </a:tc>
                <a:tc>
                  <a:txBody>
                    <a:bodyPr/>
                    <a:lstStyle/>
                    <a:p>
                      <a:r>
                        <a:t>Effectif</a:t>
                      </a:r>
                    </a:p>
                  </a:txBody>
                  <a:tcPr/>
                </a:tc>
              </a:tr>
              <a:tr h="685800">
                <a:tc>
                  <a:txBody>
                    <a:bodyPr/>
                    <a:lstStyle/>
                    <a:p>
                      <a:r>
                        <a:t>Europe</a:t>
                      </a:r>
                    </a:p>
                  </a:txBody>
                  <a:tcPr/>
                </a:tc>
                <a:tc>
                  <a:txBody>
                    <a:bodyPr/>
                    <a:lstStyle/>
                    <a:p>
                      <a:r>
                        <a:t>12 480</a:t>
                      </a:r>
                    </a:p>
                  </a:txBody>
                  <a:tcPr/>
                </a:tc>
                <a:tc>
                  <a:txBody>
                    <a:bodyPr/>
                    <a:lstStyle/>
                    <a:p>
                      <a:r>
                        <a:t>4 742</a:t>
                      </a:r>
                    </a:p>
                  </a:txBody>
                  <a:tcPr/>
                </a:tc>
                <a:tc>
                  <a:txBody>
                    <a:bodyPr/>
                    <a:lstStyle/>
                    <a:p>
                      <a:r>
                        <a:t>+12,4 %</a:t>
                      </a:r>
                    </a:p>
                  </a:txBody>
                  <a:tcPr/>
                </a:tc>
                <a:tc>
                  <a:txBody>
                    <a:bodyPr/>
                    <a:lstStyle/>
                    <a:p>
                      <a:r>
                        <a:t>184</a:t>
                      </a:r>
                    </a:p>
                  </a:txBody>
                  <a:tcPr/>
                </a:tc>
              </a:tr>
              <a:tr h="685800">
                <a:tc>
                  <a:txBody>
                    <a:bodyPr/>
                    <a:lstStyle/>
                    <a:p>
                      <a:r>
                        <a:t>Amériques</a:t>
                      </a:r>
                    </a:p>
                  </a:txBody>
                  <a:tcPr/>
                </a:tc>
                <a:tc>
                  <a:txBody>
                    <a:bodyPr/>
                    <a:lstStyle/>
                    <a:p>
                      <a:r>
                        <a:t>8 930</a:t>
                      </a:r>
                    </a:p>
                  </a:txBody>
                  <a:tcPr/>
                </a:tc>
                <a:tc>
                  <a:txBody>
                    <a:bodyPr/>
                    <a:lstStyle/>
                    <a:p>
                      <a:r>
                        <a:t>3 215</a:t>
                      </a:r>
                    </a:p>
                  </a:txBody>
                  <a:tcPr/>
                </a:tc>
                <a:tc>
                  <a:txBody>
                    <a:bodyPr/>
                    <a:lstStyle/>
                    <a:p>
                      <a:r>
                        <a:t>+8,1 %</a:t>
                      </a:r>
                    </a:p>
                  </a:txBody>
                  <a:tcPr/>
                </a:tc>
                <a:tc>
                  <a:txBody>
                    <a:bodyPr/>
                    <a:lstStyle/>
                    <a:p>
                      <a:r>
                        <a:t>97</a:t>
                      </a:r>
                    </a:p>
                  </a:txBody>
                  <a:tcPr/>
                </a:tc>
              </a:tr>
              <a:tr h="685800">
                <a:tc>
                  <a:txBody>
                    <a:bodyPr/>
                    <a:lstStyle/>
                    <a:p>
                      <a:r>
                        <a:t>Asie-Pacifique</a:t>
                      </a:r>
                    </a:p>
                  </a:txBody>
                  <a:tcPr/>
                </a:tc>
                <a:tc>
                  <a:txBody>
                    <a:bodyPr/>
                    <a:lstStyle/>
                    <a:p>
                      <a:r>
                        <a:t>5 210</a:t>
                      </a:r>
                    </a:p>
                  </a:txBody>
                  <a:tcPr/>
                </a:tc>
                <a:tc>
                  <a:txBody>
                    <a:bodyPr/>
                    <a:lstStyle/>
                    <a:p>
                      <a:r>
                        <a:t>1 980</a:t>
                      </a:r>
                    </a:p>
                  </a:txBody>
                  <a:tcPr/>
                </a:tc>
                <a:tc>
                  <a:txBody>
                    <a:bodyPr/>
                    <a:lstStyle/>
                    <a:p>
                      <a:r>
                        <a:t>+15,7 %</a:t>
                      </a:r>
                    </a:p>
                  </a:txBody>
                  <a:tcPr/>
                </a:tc>
                <a:tc>
                  <a:txBody>
                    <a:bodyPr/>
                    <a:lstStyle/>
                    <a:p>
                      <a:r>
                        <a:t>63</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Contexte de marché et environnement concurrentiel</a:t>
            </a:r>
          </a:p>
        </p:txBody>
      </p:sp>
      <p:graphicFrame>
        <p:nvGraphicFramePr>
          <p:cNvPr id="3" name="Chart 2"/>
          <p:cNvGraphicFramePr>
            <a:graphicFrameLocks noGrp="1"/>
          </p:cNvGraphicFramePr>
          <p:nvPr/>
        </p:nvGraphicFramePr>
        <p:xfrm>
          <a:off x="1371600" y="1463040"/>
          <a:ext cx="6400800" cy="41148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